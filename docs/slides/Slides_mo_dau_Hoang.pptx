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Đặt vấn đề: giá tại T1 và T2 không còn trong bảng giá hiện tại nếu không tự lưu history. Các mốc T1/T2/T3 chỉ minh họa khái niệm, không giả là timestamp SQL đã chạy.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Trigger có thể làm đúng, nhưng chúng ta phải tự viết và bảo trì. Native không đồng nghĩa luôn nhanh hơn; nhóm cần đánh giá dựa trên script và kết quả thực nghiệm của Thùy, Trung, Kiệt.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giây. Đây là hình minh họa sau UPDATE: phiên bản hiện hành thành 27 nghìn; bản cũ 25 nghìn vào History. Native ghi period theo transaction begin UTC. History của bài demo vẫn chưa được tạo ở G1.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Nhóm dùng Product chung, hai nhánh giá thử nghiệm độc lập, 105 chưa có giá để thử INSERT. Các số liệu là ví dụ minh họa, không phải dữ liệu giá thị trường. Chuyển phần tiếp cho Thùy trình bày Trigger.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5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56616"/>
            <a:ext cx="10789920" cy="585216"/>
          </a:xfrm>
          <a:prstGeom prst="rect">
            <a:avLst/>
          </a:prstGeom>
          <a:noFill/>
        </p:spPr>
        <p:txBody>
          <a:bodyPr wrap="square">
            <a:spAutoFit/>
          </a:bodyPr>
          <a:lstStyle/>
          <a:p>
            <a:pPr>
              <a:defRPr sz="3000" b="1">
                <a:solidFill>
                  <a:srgbClr val="15304B"/>
                </a:solidFill>
                <a:latin typeface="Aptos"/>
              </a:defRPr>
            </a:pPr>
            <a:r>
              <a:t>01  Khi giá thay đổi, dữ liệu quá khứ ở đâu?</a:t>
            </a:r>
          </a:p>
        </p:txBody>
      </p:sp>
      <p:sp>
        <p:nvSpPr>
          <p:cNvPr id="4" name="TextBox 3"/>
          <p:cNvSpPr txBox="1"/>
          <p:nvPr/>
        </p:nvSpPr>
        <p:spPr>
          <a:xfrm>
            <a:off x="658368" y="1042415"/>
            <a:ext cx="10424160" cy="457200"/>
          </a:xfrm>
          <a:prstGeom prst="rect">
            <a:avLst/>
          </a:prstGeom>
          <a:noFill/>
        </p:spPr>
        <p:txBody>
          <a:bodyPr wrap="square">
            <a:spAutoFit/>
          </a:bodyPr>
          <a:lstStyle/>
          <a:p>
            <a:pPr>
              <a:defRPr sz="1400" b="0">
                <a:solidFill>
                  <a:srgbClr val="5E6F7D"/>
                </a:solidFill>
                <a:latin typeface="Aptos"/>
              </a:defRPr>
            </a:pPr>
            <a:r>
              <a:t>Tình huống quản lý giá sản phẩm của cửa hàng đồ uống</a:t>
            </a:r>
          </a:p>
        </p:txBody>
      </p:sp>
      <p:sp>
        <p:nvSpPr>
          <p:cNvPr id="5" name="TextBox 4"/>
          <p:cNvSpPr txBox="1"/>
          <p:nvPr/>
        </p:nvSpPr>
        <p:spPr>
          <a:xfrm>
            <a:off x="667512" y="6464808"/>
            <a:ext cx="10515600" cy="182880"/>
          </a:xfrm>
          <a:prstGeom prst="rect">
            <a:avLst/>
          </a:prstGeom>
          <a:noFill/>
        </p:spPr>
        <p:txBody>
          <a:bodyPr wrap="square">
            <a:spAutoFit/>
          </a:bodyPr>
          <a:lstStyle/>
          <a:p>
            <a:pPr>
              <a:defRPr sz="1100" b="0">
                <a:solidFill>
                  <a:srgbClr val="5E6F7D"/>
                </a:solidFill>
                <a:latin typeface="Aptos"/>
              </a:defRPr>
            </a:pPr>
            <a:r>
              <a:t>CSC12003 · Nhóm 10 · Hoàng (TV1)  |  Chủ đề 8: Temporal Database</a:t>
            </a:r>
          </a:p>
        </p:txBody>
      </p:sp>
      <p:sp>
        <p:nvSpPr>
          <p:cNvPr id="6" name="TextBox 5"/>
          <p:cNvSpPr txBox="1"/>
          <p:nvPr/>
        </p:nvSpPr>
        <p:spPr>
          <a:xfrm>
            <a:off x="11292840" y="6437376"/>
            <a:ext cx="274320" cy="219456"/>
          </a:xfrm>
          <a:prstGeom prst="rect">
            <a:avLst/>
          </a:prstGeom>
          <a:noFill/>
        </p:spPr>
        <p:txBody>
          <a:bodyPr wrap="square">
            <a:spAutoFit/>
          </a:bodyPr>
          <a:lstStyle/>
          <a:p>
            <a:pPr>
              <a:defRPr sz="1100" b="1">
                <a:solidFill>
                  <a:srgbClr val="1F6B77"/>
                </a:solidFill>
                <a:latin typeface="Aptos"/>
              </a:defRPr>
            </a:pPr>
            <a:r>
              <a:t>1</a:t>
            </a:r>
          </a:p>
        </p:txBody>
      </p:sp>
      <p:sp>
        <p:nvSpPr>
          <p:cNvPr id="7" name="TextBox 6"/>
          <p:cNvSpPr txBox="1"/>
          <p:nvPr/>
        </p:nvSpPr>
        <p:spPr>
          <a:xfrm>
            <a:off x="685800" y="1828800"/>
            <a:ext cx="4846320" cy="548640"/>
          </a:xfrm>
          <a:prstGeom prst="rect">
            <a:avLst/>
          </a:prstGeom>
          <a:noFill/>
        </p:spPr>
        <p:txBody>
          <a:bodyPr wrap="square">
            <a:spAutoFit/>
          </a:bodyPr>
          <a:lstStyle/>
          <a:p>
            <a:pPr>
              <a:defRPr sz="2300" b="1">
                <a:solidFill>
                  <a:srgbClr val="15304B"/>
                </a:solidFill>
                <a:latin typeface="Aptos"/>
              </a:defRPr>
            </a:pPr>
            <a:r>
              <a:t>Chỉ lưu trạng thái hiện tại</a:t>
            </a:r>
          </a:p>
        </p:txBody>
      </p:sp>
      <p:sp>
        <p:nvSpPr>
          <p:cNvPr id="8" name="Rounded Rectangle 7"/>
          <p:cNvSpPr/>
          <p:nvPr/>
        </p:nvSpPr>
        <p:spPr>
          <a:xfrm>
            <a:off x="777240" y="2651760"/>
            <a:ext cx="3108960" cy="960120"/>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798064"/>
            <a:ext cx="2880360" cy="502920"/>
          </a:xfrm>
          <a:prstGeom prst="rect">
            <a:avLst/>
          </a:prstGeom>
          <a:noFill/>
        </p:spPr>
        <p:txBody>
          <a:bodyPr wrap="square">
            <a:spAutoFit/>
          </a:bodyPr>
          <a:lstStyle/>
          <a:p>
            <a:pPr>
              <a:defRPr sz="1900" b="1">
                <a:solidFill>
                  <a:srgbClr val="283D4C"/>
                </a:solidFill>
                <a:latin typeface="Aptos"/>
              </a:defRPr>
            </a:pPr>
            <a:r>
              <a:t>Cà phê sữa đá · 30.000đ</a:t>
            </a:r>
          </a:p>
        </p:txBody>
      </p:sp>
      <p:sp>
        <p:nvSpPr>
          <p:cNvPr id="10" name="TextBox 9"/>
          <p:cNvSpPr txBox="1"/>
          <p:nvPr/>
        </p:nvSpPr>
        <p:spPr>
          <a:xfrm>
            <a:off x="777240" y="3867912"/>
            <a:ext cx="4434840" cy="1115568"/>
          </a:xfrm>
          <a:prstGeom prst="rect">
            <a:avLst/>
          </a:prstGeom>
          <a:noFill/>
        </p:spPr>
        <p:txBody>
          <a:bodyPr wrap="square">
            <a:spAutoFit/>
          </a:bodyPr>
          <a:lstStyle/>
          <a:p>
            <a:pPr>
              <a:defRPr sz="1900" b="0">
                <a:solidFill>
                  <a:srgbClr val="5E6F7D"/>
                </a:solidFill>
                <a:latin typeface="Aptos"/>
              </a:defRPr>
            </a:pPr>
            <a:r>
              <a:t>Giá 25.000đ và 27.000đ đã bị ghi đè nếu không có cơ chế lưu lịch sử.</a:t>
            </a:r>
          </a:p>
        </p:txBody>
      </p:sp>
      <p:sp>
        <p:nvSpPr>
          <p:cNvPr id="11" name="Rounded Rectangle 10"/>
          <p:cNvSpPr/>
          <p:nvPr/>
        </p:nvSpPr>
        <p:spPr>
          <a:xfrm>
            <a:off x="5989320" y="1828800"/>
            <a:ext cx="5349240" cy="3255264"/>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084831"/>
            <a:ext cx="4663440" cy="411480"/>
          </a:xfrm>
          <a:prstGeom prst="rect">
            <a:avLst/>
          </a:prstGeom>
          <a:noFill/>
        </p:spPr>
        <p:txBody>
          <a:bodyPr wrap="square">
            <a:spAutoFit/>
          </a:bodyPr>
          <a:lstStyle/>
          <a:p>
            <a:pPr>
              <a:defRPr sz="2200" b="1">
                <a:solidFill>
                  <a:srgbClr val="15304B"/>
                </a:solidFill>
                <a:latin typeface="Aptos"/>
              </a:defRPr>
            </a:pPr>
            <a:r>
              <a:t>Các phiên bản theo thời gian</a:t>
            </a:r>
          </a:p>
        </p:txBody>
      </p:sp>
      <p:sp>
        <p:nvSpPr>
          <p:cNvPr id="13" name="Rounded Rectangle 12"/>
          <p:cNvSpPr/>
          <p:nvPr/>
        </p:nvSpPr>
        <p:spPr>
          <a:xfrm>
            <a:off x="6446520" y="2999232"/>
            <a:ext cx="1325880" cy="758952"/>
          </a:xfrm>
          <a:prstGeom prst="roundRect">
            <a:avLst/>
          </a:prstGeom>
          <a:solidFill>
            <a:srgbClr val="D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3090672"/>
            <a:ext cx="1188720" cy="393192"/>
          </a:xfrm>
          <a:prstGeom prst="rect">
            <a:avLst/>
          </a:prstGeom>
          <a:noFill/>
        </p:spPr>
        <p:txBody>
          <a:bodyPr wrap="square">
            <a:spAutoFit/>
          </a:bodyPr>
          <a:lstStyle/>
          <a:p>
            <a:pPr algn="ctr">
              <a:defRPr sz="1600" b="1">
                <a:solidFill>
                  <a:srgbClr val="15304B"/>
                </a:solidFill>
                <a:latin typeface="Aptos"/>
              </a:defRPr>
            </a:pPr>
            <a:r>
              <a:t>25.000đ</a:t>
            </a:r>
          </a:p>
        </p:txBody>
      </p:sp>
      <p:sp>
        <p:nvSpPr>
          <p:cNvPr id="15" name="TextBox 14"/>
          <p:cNvSpPr txBox="1"/>
          <p:nvPr/>
        </p:nvSpPr>
        <p:spPr>
          <a:xfrm>
            <a:off x="6629400" y="3895344"/>
            <a:ext cx="1005840" cy="310896"/>
          </a:xfrm>
          <a:prstGeom prst="rect">
            <a:avLst/>
          </a:prstGeom>
          <a:noFill/>
        </p:spPr>
        <p:txBody>
          <a:bodyPr wrap="square">
            <a:spAutoFit/>
          </a:bodyPr>
          <a:lstStyle/>
          <a:p>
            <a:pPr algn="ctr">
              <a:defRPr sz="1400" b="1">
                <a:solidFill>
                  <a:srgbClr val="15304B"/>
                </a:solidFill>
                <a:latin typeface="Aptos"/>
              </a:defRPr>
            </a:pPr>
            <a:r>
              <a:t>T1</a:t>
            </a:r>
          </a:p>
        </p:txBody>
      </p:sp>
      <p:sp>
        <p:nvSpPr>
          <p:cNvPr id="16" name="Rounded Rectangle 15"/>
          <p:cNvSpPr/>
          <p:nvPr/>
        </p:nvSpPr>
        <p:spPr>
          <a:xfrm>
            <a:off x="8046720" y="2999232"/>
            <a:ext cx="1325880" cy="758952"/>
          </a:xfrm>
          <a:prstGeom prst="roundRect">
            <a:avLst/>
          </a:prstGeom>
          <a:solidFill>
            <a:srgbClr val="D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9872" y="3090672"/>
            <a:ext cx="1188720" cy="393192"/>
          </a:xfrm>
          <a:prstGeom prst="rect">
            <a:avLst/>
          </a:prstGeom>
          <a:noFill/>
        </p:spPr>
        <p:txBody>
          <a:bodyPr wrap="square">
            <a:spAutoFit/>
          </a:bodyPr>
          <a:lstStyle/>
          <a:p>
            <a:pPr algn="ctr">
              <a:defRPr sz="1600" b="1">
                <a:solidFill>
                  <a:srgbClr val="15304B"/>
                </a:solidFill>
                <a:latin typeface="Aptos"/>
              </a:defRPr>
            </a:pPr>
            <a:r>
              <a:t>27.000đ</a:t>
            </a:r>
          </a:p>
        </p:txBody>
      </p:sp>
      <p:sp>
        <p:nvSpPr>
          <p:cNvPr id="18" name="TextBox 17"/>
          <p:cNvSpPr txBox="1"/>
          <p:nvPr/>
        </p:nvSpPr>
        <p:spPr>
          <a:xfrm>
            <a:off x="8229600" y="3895344"/>
            <a:ext cx="1005840" cy="310896"/>
          </a:xfrm>
          <a:prstGeom prst="rect">
            <a:avLst/>
          </a:prstGeom>
          <a:noFill/>
        </p:spPr>
        <p:txBody>
          <a:bodyPr wrap="square">
            <a:spAutoFit/>
          </a:bodyPr>
          <a:lstStyle/>
          <a:p>
            <a:pPr algn="ctr">
              <a:defRPr sz="1400" b="1">
                <a:solidFill>
                  <a:srgbClr val="15304B"/>
                </a:solidFill>
                <a:latin typeface="Aptos"/>
              </a:defRPr>
            </a:pPr>
            <a:r>
              <a:t>T2</a:t>
            </a:r>
          </a:p>
        </p:txBody>
      </p:sp>
      <p:sp>
        <p:nvSpPr>
          <p:cNvPr id="19" name="Rounded Rectangle 18"/>
          <p:cNvSpPr/>
          <p:nvPr/>
        </p:nvSpPr>
        <p:spPr>
          <a:xfrm>
            <a:off x="9646920" y="2999232"/>
            <a:ext cx="1325880" cy="758952"/>
          </a:xfrm>
          <a:prstGeom prst="roundRect">
            <a:avLst/>
          </a:prstGeom>
          <a:solidFill>
            <a:srgbClr val="1F6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0072" y="3090672"/>
            <a:ext cx="1188720" cy="393192"/>
          </a:xfrm>
          <a:prstGeom prst="rect">
            <a:avLst/>
          </a:prstGeom>
          <a:noFill/>
        </p:spPr>
        <p:txBody>
          <a:bodyPr wrap="square">
            <a:spAutoFit/>
          </a:bodyPr>
          <a:lstStyle/>
          <a:p>
            <a:pPr algn="ctr">
              <a:defRPr sz="1600" b="1">
                <a:solidFill>
                  <a:srgbClr val="FFFFFF"/>
                </a:solidFill>
                <a:latin typeface="Aptos"/>
              </a:defRPr>
            </a:pPr>
            <a:r>
              <a:t>30.000đ</a:t>
            </a:r>
          </a:p>
        </p:txBody>
      </p:sp>
      <p:sp>
        <p:nvSpPr>
          <p:cNvPr id="21" name="TextBox 20"/>
          <p:cNvSpPr txBox="1"/>
          <p:nvPr/>
        </p:nvSpPr>
        <p:spPr>
          <a:xfrm>
            <a:off x="9829800" y="3895344"/>
            <a:ext cx="1005840" cy="310896"/>
          </a:xfrm>
          <a:prstGeom prst="rect">
            <a:avLst/>
          </a:prstGeom>
          <a:noFill/>
        </p:spPr>
        <p:txBody>
          <a:bodyPr wrap="square">
            <a:spAutoFit/>
          </a:bodyPr>
          <a:lstStyle/>
          <a:p>
            <a:pPr algn="ctr">
              <a:defRPr sz="1400" b="1">
                <a:solidFill>
                  <a:srgbClr val="15304B"/>
                </a:solidFill>
                <a:latin typeface="Aptos"/>
              </a:defRPr>
            </a:pPr>
            <a:r>
              <a:t>T3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5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56616"/>
            <a:ext cx="10789920" cy="585216"/>
          </a:xfrm>
          <a:prstGeom prst="rect">
            <a:avLst/>
          </a:prstGeom>
          <a:noFill/>
        </p:spPr>
        <p:txBody>
          <a:bodyPr wrap="square">
            <a:spAutoFit/>
          </a:bodyPr>
          <a:lstStyle/>
          <a:p>
            <a:pPr>
              <a:defRPr sz="3000" b="1">
                <a:solidFill>
                  <a:srgbClr val="15304B"/>
                </a:solidFill>
                <a:latin typeface="Aptos"/>
              </a:defRPr>
            </a:pPr>
            <a:r>
              <a:t>02  Hai cách giữ lịch sử</a:t>
            </a:r>
          </a:p>
        </p:txBody>
      </p:sp>
      <p:sp>
        <p:nvSpPr>
          <p:cNvPr id="4" name="TextBox 3"/>
          <p:cNvSpPr txBox="1"/>
          <p:nvPr/>
        </p:nvSpPr>
        <p:spPr>
          <a:xfrm>
            <a:off x="658368" y="1042415"/>
            <a:ext cx="10424160" cy="457200"/>
          </a:xfrm>
          <a:prstGeom prst="rect">
            <a:avLst/>
          </a:prstGeom>
          <a:noFill/>
        </p:spPr>
        <p:txBody>
          <a:bodyPr wrap="square">
            <a:spAutoFit/>
          </a:bodyPr>
          <a:lstStyle/>
          <a:p>
            <a:pPr>
              <a:defRPr sz="1400" b="0">
                <a:solidFill>
                  <a:srgbClr val="5E6F7D"/>
                </a:solidFill>
                <a:latin typeface="Aptos"/>
              </a:defRPr>
            </a:pPr>
            <a:r>
              <a:t>Giữ nguyên một bài toán, thay đổi cơ chế lưu phiên bản</a:t>
            </a:r>
          </a:p>
        </p:txBody>
      </p:sp>
      <p:sp>
        <p:nvSpPr>
          <p:cNvPr id="5" name="TextBox 4"/>
          <p:cNvSpPr txBox="1"/>
          <p:nvPr/>
        </p:nvSpPr>
        <p:spPr>
          <a:xfrm>
            <a:off x="667512" y="6464808"/>
            <a:ext cx="10515600" cy="182880"/>
          </a:xfrm>
          <a:prstGeom prst="rect">
            <a:avLst/>
          </a:prstGeom>
          <a:noFill/>
        </p:spPr>
        <p:txBody>
          <a:bodyPr wrap="square">
            <a:spAutoFit/>
          </a:bodyPr>
          <a:lstStyle/>
          <a:p>
            <a:pPr>
              <a:defRPr sz="1100" b="0">
                <a:solidFill>
                  <a:srgbClr val="5E6F7D"/>
                </a:solidFill>
                <a:latin typeface="Aptos"/>
              </a:defRPr>
            </a:pPr>
            <a:r>
              <a:t>CSC12003 · Nhóm 10 · Hoàng (TV1)  |  Chủ đề 8: Temporal Database</a:t>
            </a:r>
          </a:p>
        </p:txBody>
      </p:sp>
      <p:sp>
        <p:nvSpPr>
          <p:cNvPr id="6" name="TextBox 5"/>
          <p:cNvSpPr txBox="1"/>
          <p:nvPr/>
        </p:nvSpPr>
        <p:spPr>
          <a:xfrm>
            <a:off x="11292840" y="6437376"/>
            <a:ext cx="274320" cy="219456"/>
          </a:xfrm>
          <a:prstGeom prst="rect">
            <a:avLst/>
          </a:prstGeom>
          <a:noFill/>
        </p:spPr>
        <p:txBody>
          <a:bodyPr wrap="square">
            <a:spAutoFit/>
          </a:bodyPr>
          <a:lstStyle/>
          <a:p>
            <a:pPr>
              <a:defRPr sz="1100" b="1">
                <a:solidFill>
                  <a:srgbClr val="1F6B77"/>
                </a:solidFill>
                <a:latin typeface="Aptos"/>
              </a:defRPr>
            </a:pPr>
            <a:r>
              <a:t>2</a:t>
            </a:r>
          </a:p>
        </p:txBody>
      </p:sp>
      <p:sp>
        <p:nvSpPr>
          <p:cNvPr id="7" name="Rounded Rectangle 6"/>
          <p:cNvSpPr/>
          <p:nvPr/>
        </p:nvSpPr>
        <p:spPr>
          <a:xfrm>
            <a:off x="731520" y="1883664"/>
            <a:ext cx="5029200" cy="3383280"/>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55080" y="1883664"/>
            <a:ext cx="5029200" cy="3383280"/>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240280"/>
            <a:ext cx="4434840" cy="438912"/>
          </a:xfrm>
          <a:prstGeom prst="rect">
            <a:avLst/>
          </a:prstGeom>
          <a:noFill/>
        </p:spPr>
        <p:txBody>
          <a:bodyPr wrap="square">
            <a:spAutoFit/>
          </a:bodyPr>
          <a:lstStyle/>
          <a:p>
            <a:pPr>
              <a:defRPr sz="2300" b="1">
                <a:solidFill>
                  <a:srgbClr val="15304B"/>
                </a:solidFill>
                <a:latin typeface="Aptos"/>
              </a:defRPr>
            </a:pPr>
            <a:r>
              <a:t>TỰ XÂY: Trigger + History</a:t>
            </a:r>
          </a:p>
        </p:txBody>
      </p:sp>
      <p:sp>
        <p:nvSpPr>
          <p:cNvPr id="10" name="TextBox 9"/>
          <p:cNvSpPr txBox="1"/>
          <p:nvPr/>
        </p:nvSpPr>
        <p:spPr>
          <a:xfrm>
            <a:off x="1060704" y="2980944"/>
            <a:ext cx="4297680" cy="1508760"/>
          </a:xfrm>
          <a:prstGeom prst="rect">
            <a:avLst/>
          </a:prstGeom>
          <a:noFill/>
        </p:spPr>
        <p:txBody>
          <a:bodyPr wrap="square">
            <a:spAutoFit/>
          </a:bodyPr>
          <a:lstStyle/>
          <a:p>
            <a:pPr>
              <a:defRPr sz="1900" b="0">
                <a:solidFill>
                  <a:srgbClr val="283D4C"/>
                </a:solidFill>
                <a:latin typeface="Aptos"/>
              </a:defRPr>
            </a:pPr>
            <a:r>
              <a:t>Lập trình viên thiết kế History Table, xử lý inserted/deleted, mốc thời gian và truy vấn thủ công.</a:t>
            </a:r>
          </a:p>
        </p:txBody>
      </p:sp>
      <p:sp>
        <p:nvSpPr>
          <p:cNvPr id="11" name="TextBox 10"/>
          <p:cNvSpPr txBox="1"/>
          <p:nvPr/>
        </p:nvSpPr>
        <p:spPr>
          <a:xfrm>
            <a:off x="6675120" y="2240280"/>
            <a:ext cx="4480560" cy="438912"/>
          </a:xfrm>
          <a:prstGeom prst="rect">
            <a:avLst/>
          </a:prstGeom>
          <a:noFill/>
        </p:spPr>
        <p:txBody>
          <a:bodyPr wrap="square">
            <a:spAutoFit/>
          </a:bodyPr>
          <a:lstStyle/>
          <a:p>
            <a:pPr>
              <a:defRPr sz="2300" b="1">
                <a:solidFill>
                  <a:srgbClr val="1F6B77"/>
                </a:solidFill>
                <a:latin typeface="Aptos"/>
              </a:defRPr>
            </a:pPr>
            <a:r>
              <a:t>NATIVE: System-Versioning</a:t>
            </a:r>
          </a:p>
        </p:txBody>
      </p:sp>
      <p:sp>
        <p:nvSpPr>
          <p:cNvPr id="12" name="TextBox 11"/>
          <p:cNvSpPr txBox="1"/>
          <p:nvPr/>
        </p:nvSpPr>
        <p:spPr>
          <a:xfrm>
            <a:off x="6665976" y="2980944"/>
            <a:ext cx="4306824" cy="1536192"/>
          </a:xfrm>
          <a:prstGeom prst="rect">
            <a:avLst/>
          </a:prstGeom>
          <a:noFill/>
        </p:spPr>
        <p:txBody>
          <a:bodyPr wrap="square">
            <a:spAutoFit/>
          </a:bodyPr>
          <a:lstStyle/>
          <a:p>
            <a:pPr>
              <a:defRPr sz="1900" b="0">
                <a:solidFill>
                  <a:srgbClr val="283D4C"/>
                </a:solidFill>
                <a:latin typeface="Aptos"/>
              </a:defRPr>
            </a:pPr>
            <a:r>
              <a:t>SQL Server quản lý phiên bản cũ, period columns và cú pháp FOR SYSTEM_TIME.</a:t>
            </a:r>
          </a:p>
        </p:txBody>
      </p:sp>
      <p:sp>
        <p:nvSpPr>
          <p:cNvPr id="13" name="TextBox 12"/>
          <p:cNvSpPr txBox="1"/>
          <p:nvPr/>
        </p:nvSpPr>
        <p:spPr>
          <a:xfrm>
            <a:off x="1965960" y="5550408"/>
            <a:ext cx="8458200" cy="365760"/>
          </a:xfrm>
          <a:prstGeom prst="rect">
            <a:avLst/>
          </a:prstGeom>
          <a:noFill/>
        </p:spPr>
        <p:txBody>
          <a:bodyPr wrap="square">
            <a:spAutoFit/>
          </a:bodyPr>
          <a:lstStyle/>
          <a:p>
            <a:pPr algn="ctr">
              <a:defRPr sz="1700" b="1">
                <a:solidFill>
                  <a:srgbClr val="5E6F7D"/>
                </a:solidFill>
                <a:latin typeface="Aptos"/>
              </a:defRPr>
            </a:pPr>
            <a:r>
              <a:t>Mục tiêu: chứng minh sự khác biệt về chức năng và trách nhiệm bảo trì.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5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56616"/>
            <a:ext cx="10789920" cy="585216"/>
          </a:xfrm>
          <a:prstGeom prst="rect">
            <a:avLst/>
          </a:prstGeom>
          <a:noFill/>
        </p:spPr>
        <p:txBody>
          <a:bodyPr wrap="square">
            <a:spAutoFit/>
          </a:bodyPr>
          <a:lstStyle/>
          <a:p>
            <a:pPr>
              <a:defRPr sz="3000" b="1">
                <a:solidFill>
                  <a:srgbClr val="15304B"/>
                </a:solidFill>
                <a:latin typeface="Aptos"/>
              </a:defRPr>
            </a:pPr>
            <a:r>
              <a:t>03  Current → History khi UPDATE</a:t>
            </a:r>
          </a:p>
        </p:txBody>
      </p:sp>
      <p:sp>
        <p:nvSpPr>
          <p:cNvPr id="4" name="TextBox 3"/>
          <p:cNvSpPr txBox="1"/>
          <p:nvPr/>
        </p:nvSpPr>
        <p:spPr>
          <a:xfrm>
            <a:off x="658368" y="1042415"/>
            <a:ext cx="10424160" cy="457200"/>
          </a:xfrm>
          <a:prstGeom prst="rect">
            <a:avLst/>
          </a:prstGeom>
          <a:noFill/>
        </p:spPr>
        <p:txBody>
          <a:bodyPr wrap="square">
            <a:spAutoFit/>
          </a:bodyPr>
          <a:lstStyle/>
          <a:p>
            <a:pPr>
              <a:defRPr sz="1400" b="0">
                <a:solidFill>
                  <a:srgbClr val="5E6F7D"/>
                </a:solidFill>
                <a:latin typeface="Aptos"/>
              </a:defRPr>
            </a:pPr>
            <a:r>
              <a:t>Nguyên lý native: DBMS tự lưu phiên bản cũ sau khi bật SYSTEM_VERSIONING</a:t>
            </a:r>
          </a:p>
        </p:txBody>
      </p:sp>
      <p:sp>
        <p:nvSpPr>
          <p:cNvPr id="5" name="TextBox 4"/>
          <p:cNvSpPr txBox="1"/>
          <p:nvPr/>
        </p:nvSpPr>
        <p:spPr>
          <a:xfrm>
            <a:off x="667512" y="6464808"/>
            <a:ext cx="10515600" cy="182880"/>
          </a:xfrm>
          <a:prstGeom prst="rect">
            <a:avLst/>
          </a:prstGeom>
          <a:noFill/>
        </p:spPr>
        <p:txBody>
          <a:bodyPr wrap="square">
            <a:spAutoFit/>
          </a:bodyPr>
          <a:lstStyle/>
          <a:p>
            <a:pPr>
              <a:defRPr sz="1100" b="0">
                <a:solidFill>
                  <a:srgbClr val="5E6F7D"/>
                </a:solidFill>
                <a:latin typeface="Aptos"/>
              </a:defRPr>
            </a:pPr>
            <a:r>
              <a:t>CSC12003 · Nhóm 10 · Hoàng (TV1)  |  Chủ đề 8: Temporal Database</a:t>
            </a:r>
          </a:p>
        </p:txBody>
      </p:sp>
      <p:sp>
        <p:nvSpPr>
          <p:cNvPr id="6" name="TextBox 5"/>
          <p:cNvSpPr txBox="1"/>
          <p:nvPr/>
        </p:nvSpPr>
        <p:spPr>
          <a:xfrm>
            <a:off x="11292840" y="6437376"/>
            <a:ext cx="274320" cy="219456"/>
          </a:xfrm>
          <a:prstGeom prst="rect">
            <a:avLst/>
          </a:prstGeom>
          <a:noFill/>
        </p:spPr>
        <p:txBody>
          <a:bodyPr wrap="square">
            <a:spAutoFit/>
          </a:bodyPr>
          <a:lstStyle/>
          <a:p>
            <a:pPr>
              <a:defRPr sz="1100" b="1">
                <a:solidFill>
                  <a:srgbClr val="1F6B77"/>
                </a:solidFill>
                <a:latin typeface="Aptos"/>
              </a:defRPr>
            </a:pPr>
            <a:r>
              <a:t>3</a:t>
            </a:r>
          </a:p>
        </p:txBody>
      </p:sp>
      <p:sp>
        <p:nvSpPr>
          <p:cNvPr id="7" name="Rounded Rectangle 6"/>
          <p:cNvSpPr/>
          <p:nvPr/>
        </p:nvSpPr>
        <p:spPr>
          <a:xfrm>
            <a:off x="822960" y="1874519"/>
            <a:ext cx="3840480" cy="1965960"/>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3520440" cy="411480"/>
          </a:xfrm>
          <a:prstGeom prst="rect">
            <a:avLst/>
          </a:prstGeom>
          <a:noFill/>
        </p:spPr>
        <p:txBody>
          <a:bodyPr wrap="square">
            <a:spAutoFit/>
          </a:bodyPr>
          <a:lstStyle/>
          <a:p>
            <a:pPr>
              <a:defRPr sz="2200" b="1">
                <a:solidFill>
                  <a:srgbClr val="1F6B77"/>
                </a:solidFill>
                <a:latin typeface="Aptos"/>
              </a:defRPr>
            </a:pPr>
            <a:r>
              <a:t>CURRENT TABLE</a:t>
            </a:r>
          </a:p>
        </p:txBody>
      </p:sp>
      <p:sp>
        <p:nvSpPr>
          <p:cNvPr id="9" name="TextBox 8"/>
          <p:cNvSpPr txBox="1"/>
          <p:nvPr/>
        </p:nvSpPr>
        <p:spPr>
          <a:xfrm>
            <a:off x="1143000" y="2779776"/>
            <a:ext cx="3255264" cy="502920"/>
          </a:xfrm>
          <a:prstGeom prst="rect">
            <a:avLst/>
          </a:prstGeom>
          <a:noFill/>
        </p:spPr>
        <p:txBody>
          <a:bodyPr wrap="square">
            <a:spAutoFit/>
          </a:bodyPr>
          <a:lstStyle/>
          <a:p>
            <a:pPr>
              <a:defRPr sz="2000" b="1">
                <a:solidFill>
                  <a:srgbClr val="15304B"/>
                </a:solidFill>
                <a:latin typeface="Aptos"/>
              </a:defRPr>
            </a:pPr>
            <a:r>
              <a:t>ProductID 101 · 27.000đ</a:t>
            </a:r>
          </a:p>
        </p:txBody>
      </p:sp>
      <p:sp>
        <p:nvSpPr>
          <p:cNvPr id="10" name="Rounded Rectangle 9"/>
          <p:cNvSpPr/>
          <p:nvPr/>
        </p:nvSpPr>
        <p:spPr>
          <a:xfrm>
            <a:off x="7452360" y="1874519"/>
            <a:ext cx="3840480" cy="1965960"/>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4968" y="2084831"/>
            <a:ext cx="3291840" cy="411480"/>
          </a:xfrm>
          <a:prstGeom prst="rect">
            <a:avLst/>
          </a:prstGeom>
          <a:noFill/>
        </p:spPr>
        <p:txBody>
          <a:bodyPr wrap="square">
            <a:spAutoFit/>
          </a:bodyPr>
          <a:lstStyle/>
          <a:p>
            <a:pPr>
              <a:defRPr sz="2200" b="1">
                <a:solidFill>
                  <a:srgbClr val="15304B"/>
                </a:solidFill>
                <a:latin typeface="Aptos"/>
              </a:defRPr>
            </a:pPr>
            <a:r>
              <a:t>HISTORY TABLE</a:t>
            </a:r>
          </a:p>
        </p:txBody>
      </p:sp>
      <p:sp>
        <p:nvSpPr>
          <p:cNvPr id="12" name="TextBox 11"/>
          <p:cNvSpPr txBox="1"/>
          <p:nvPr/>
        </p:nvSpPr>
        <p:spPr>
          <a:xfrm>
            <a:off x="7754112" y="2779776"/>
            <a:ext cx="3291840" cy="502920"/>
          </a:xfrm>
          <a:prstGeom prst="rect">
            <a:avLst/>
          </a:prstGeom>
          <a:noFill/>
        </p:spPr>
        <p:txBody>
          <a:bodyPr wrap="square">
            <a:spAutoFit/>
          </a:bodyPr>
          <a:lstStyle/>
          <a:p>
            <a:pPr>
              <a:defRPr sz="2000" b="1">
                <a:solidFill>
                  <a:srgbClr val="15304B"/>
                </a:solidFill>
                <a:latin typeface="Aptos"/>
              </a:defRPr>
            </a:pPr>
            <a:r>
              <a:t>101 · 25.000đ</a:t>
            </a:r>
          </a:p>
        </p:txBody>
      </p:sp>
      <p:sp>
        <p:nvSpPr>
          <p:cNvPr id="13" name="Rounded Rectangle 12"/>
          <p:cNvSpPr/>
          <p:nvPr/>
        </p:nvSpPr>
        <p:spPr>
          <a:xfrm>
            <a:off x="4901184" y="2514600"/>
            <a:ext cx="2331720" cy="621792"/>
          </a:xfrm>
          <a:prstGeom prst="roundRect">
            <a:avLst/>
          </a:prstGeom>
          <a:solidFill>
            <a:srgbClr val="E3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8344" y="2596896"/>
            <a:ext cx="2057400" cy="329184"/>
          </a:xfrm>
          <a:prstGeom prst="rect">
            <a:avLst/>
          </a:prstGeom>
          <a:noFill/>
        </p:spPr>
        <p:txBody>
          <a:bodyPr wrap="square">
            <a:spAutoFit/>
          </a:bodyPr>
          <a:lstStyle/>
          <a:p>
            <a:pPr algn="ctr">
              <a:defRPr sz="1800" b="1">
                <a:solidFill>
                  <a:srgbClr val="15304B"/>
                </a:solidFill>
                <a:latin typeface="Aptos"/>
              </a:defRPr>
            </a:pPr>
            <a:r>
              <a:t>UPDATE →</a:t>
            </a:r>
          </a:p>
        </p:txBody>
      </p:sp>
      <p:sp>
        <p:nvSpPr>
          <p:cNvPr id="15" name="TextBox 14"/>
          <p:cNvSpPr txBox="1"/>
          <p:nvPr/>
        </p:nvSpPr>
        <p:spPr>
          <a:xfrm>
            <a:off x="1115568" y="4206240"/>
            <a:ext cx="10332720" cy="685800"/>
          </a:xfrm>
          <a:prstGeom prst="rect">
            <a:avLst/>
          </a:prstGeom>
          <a:noFill/>
        </p:spPr>
        <p:txBody>
          <a:bodyPr wrap="square">
            <a:spAutoFit/>
          </a:bodyPr>
          <a:lstStyle/>
          <a:p>
            <a:pPr>
              <a:defRPr sz="1900" b="0">
                <a:solidFill>
                  <a:srgbClr val="283D4C"/>
                </a:solidFill>
                <a:latin typeface="Aptos"/>
              </a:defRPr>
            </a:pPr>
            <a:r>
              <a:t>Period Columns (datetime2): khoảng phiên bản có hiệu lực theo SYSTEM TIME UTC.</a:t>
            </a:r>
          </a:p>
        </p:txBody>
      </p:sp>
      <p:sp>
        <p:nvSpPr>
          <p:cNvPr id="16" name="Rounded Rectangle 15"/>
          <p:cNvSpPr/>
          <p:nvPr/>
        </p:nvSpPr>
        <p:spPr>
          <a:xfrm>
            <a:off x="1078992" y="5056632"/>
            <a:ext cx="9966960" cy="566928"/>
          </a:xfrm>
          <a:prstGeom prst="roundRect">
            <a:avLst/>
          </a:prstGeom>
          <a:solidFill>
            <a:srgbClr val="F6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5148072"/>
            <a:ext cx="9509760" cy="301752"/>
          </a:xfrm>
          <a:prstGeom prst="rect">
            <a:avLst/>
          </a:prstGeom>
          <a:noFill/>
        </p:spPr>
        <p:txBody>
          <a:bodyPr wrap="square">
            <a:spAutoFit/>
          </a:bodyPr>
          <a:lstStyle/>
          <a:p>
            <a:pPr>
              <a:defRPr sz="1600" b="1">
                <a:solidFill>
                  <a:srgbClr val="15304B"/>
                </a:solidFill>
                <a:latin typeface="Aptos"/>
              </a:defRPr>
            </a:pPr>
            <a:r>
              <a:t>Không phải lịch sử business/valid time; cũng không phải lệnh restore.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5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56616"/>
            <a:ext cx="10789920" cy="585216"/>
          </a:xfrm>
          <a:prstGeom prst="rect">
            <a:avLst/>
          </a:prstGeom>
          <a:noFill/>
        </p:spPr>
        <p:txBody>
          <a:bodyPr wrap="square">
            <a:spAutoFit/>
          </a:bodyPr>
          <a:lstStyle/>
          <a:p>
            <a:pPr>
              <a:defRPr sz="3000" b="1">
                <a:solidFill>
                  <a:srgbClr val="15304B"/>
                </a:solidFill>
                <a:latin typeface="Aptos"/>
              </a:defRPr>
            </a:pPr>
            <a:r>
              <a:t>04  Cùng dữ liệu, hai nhánh so sánh</a:t>
            </a:r>
          </a:p>
        </p:txBody>
      </p:sp>
      <p:sp>
        <p:nvSpPr>
          <p:cNvPr id="4" name="TextBox 3"/>
          <p:cNvSpPr txBox="1"/>
          <p:nvPr/>
        </p:nvSpPr>
        <p:spPr>
          <a:xfrm>
            <a:off x="658368" y="1042415"/>
            <a:ext cx="10424160" cy="457200"/>
          </a:xfrm>
          <a:prstGeom prst="rect">
            <a:avLst/>
          </a:prstGeom>
          <a:noFill/>
        </p:spPr>
        <p:txBody>
          <a:bodyPr wrap="square">
            <a:spAutoFit/>
          </a:bodyPr>
          <a:lstStyle/>
          <a:p>
            <a:pPr>
              <a:defRPr sz="1400" b="0">
                <a:solidFill>
                  <a:srgbClr val="5E6F7D"/>
                </a:solidFill>
                <a:latin typeface="Aptos"/>
              </a:defRPr>
            </a:pPr>
            <a:r>
              <a:t>TV1 tạo baseline, TV2 và TV3 xây cơ chế lịch sử riêng trên từng nhánh</a:t>
            </a:r>
          </a:p>
        </p:txBody>
      </p:sp>
      <p:sp>
        <p:nvSpPr>
          <p:cNvPr id="5" name="TextBox 4"/>
          <p:cNvSpPr txBox="1"/>
          <p:nvPr/>
        </p:nvSpPr>
        <p:spPr>
          <a:xfrm>
            <a:off x="667512" y="6464808"/>
            <a:ext cx="10515600" cy="182880"/>
          </a:xfrm>
          <a:prstGeom prst="rect">
            <a:avLst/>
          </a:prstGeom>
          <a:noFill/>
        </p:spPr>
        <p:txBody>
          <a:bodyPr wrap="square">
            <a:spAutoFit/>
          </a:bodyPr>
          <a:lstStyle/>
          <a:p>
            <a:pPr>
              <a:defRPr sz="1100" b="0">
                <a:solidFill>
                  <a:srgbClr val="5E6F7D"/>
                </a:solidFill>
                <a:latin typeface="Aptos"/>
              </a:defRPr>
            </a:pPr>
            <a:r>
              <a:t>CSC12003 · Nhóm 10 · Hoàng (TV1)  |  Chủ đề 8: Temporal Database</a:t>
            </a:r>
          </a:p>
        </p:txBody>
      </p:sp>
      <p:sp>
        <p:nvSpPr>
          <p:cNvPr id="6" name="TextBox 5"/>
          <p:cNvSpPr txBox="1"/>
          <p:nvPr/>
        </p:nvSpPr>
        <p:spPr>
          <a:xfrm>
            <a:off x="11292840" y="6437376"/>
            <a:ext cx="274320" cy="219456"/>
          </a:xfrm>
          <a:prstGeom prst="rect">
            <a:avLst/>
          </a:prstGeom>
          <a:noFill/>
        </p:spPr>
        <p:txBody>
          <a:bodyPr wrap="square">
            <a:spAutoFit/>
          </a:bodyPr>
          <a:lstStyle/>
          <a:p>
            <a:pPr>
              <a:defRPr sz="1100" b="1">
                <a:solidFill>
                  <a:srgbClr val="1F6B77"/>
                </a:solidFill>
                <a:latin typeface="Aptos"/>
              </a:defRPr>
            </a:pPr>
            <a:r>
              <a:t>4</a:t>
            </a:r>
          </a:p>
        </p:txBody>
      </p:sp>
      <p:sp>
        <p:nvSpPr>
          <p:cNvPr id="7" name="Rounded Rectangle 6"/>
          <p:cNvSpPr/>
          <p:nvPr/>
        </p:nvSpPr>
        <p:spPr>
          <a:xfrm>
            <a:off x="758952" y="1874519"/>
            <a:ext cx="3127248" cy="3346704"/>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34256" y="1874519"/>
            <a:ext cx="3127248" cy="3346704"/>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09560" y="1874519"/>
            <a:ext cx="3474720" cy="3346704"/>
          </a:xfrm>
          <a:prstGeom prst="roundRect">
            <a:avLst/>
          </a:prstGeom>
          <a:solidFill>
            <a:srgbClr val="EB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39696"/>
            <a:ext cx="2679192" cy="393192"/>
          </a:xfrm>
          <a:prstGeom prst="rect">
            <a:avLst/>
          </a:prstGeom>
          <a:noFill/>
        </p:spPr>
        <p:txBody>
          <a:bodyPr wrap="square">
            <a:spAutoFit/>
          </a:bodyPr>
          <a:lstStyle/>
          <a:p>
            <a:pPr>
              <a:defRPr sz="2200" b="1">
                <a:solidFill>
                  <a:srgbClr val="15304B"/>
                </a:solidFill>
                <a:latin typeface="Aptos"/>
              </a:defRPr>
            </a:pPr>
            <a:r>
              <a:t>dbo.Product</a:t>
            </a:r>
          </a:p>
        </p:txBody>
      </p:sp>
      <p:sp>
        <p:nvSpPr>
          <p:cNvPr id="11" name="TextBox 10"/>
          <p:cNvSpPr txBox="1"/>
          <p:nvPr/>
        </p:nvSpPr>
        <p:spPr>
          <a:xfrm>
            <a:off x="960120" y="2788920"/>
            <a:ext cx="2743200" cy="1920240"/>
          </a:xfrm>
          <a:prstGeom prst="rect">
            <a:avLst/>
          </a:prstGeom>
          <a:noFill/>
        </p:spPr>
        <p:txBody>
          <a:bodyPr wrap="square">
            <a:spAutoFit/>
          </a:bodyPr>
          <a:lstStyle/>
          <a:p>
            <a:pPr>
              <a:defRPr sz="1600" b="0">
                <a:solidFill>
                  <a:srgbClr val="283D4C"/>
                </a:solidFill>
                <a:latin typeface="Aptos"/>
              </a:defRPr>
            </a:pPr>
            <a:r>
              <a:t>101  Cà phê sữa đá</a:t>
            </a:r>
            <a:br/>
            <a:r>
              <a:t>102  Trà đào cam sả</a:t>
            </a:r>
            <a:br/>
            <a:r>
              <a:t>103  Bánh mì thịt</a:t>
            </a:r>
            <a:br/>
            <a:r>
              <a:t>104  Matcha latte</a:t>
            </a:r>
            <a:br/>
            <a:r>
              <a:t>105  Bánh quy bơ</a:t>
            </a:r>
          </a:p>
        </p:txBody>
      </p:sp>
      <p:sp>
        <p:nvSpPr>
          <p:cNvPr id="12" name="TextBox 11"/>
          <p:cNvSpPr txBox="1"/>
          <p:nvPr/>
        </p:nvSpPr>
        <p:spPr>
          <a:xfrm>
            <a:off x="4562856" y="2139696"/>
            <a:ext cx="2743200" cy="393192"/>
          </a:xfrm>
          <a:prstGeom prst="rect">
            <a:avLst/>
          </a:prstGeom>
          <a:noFill/>
        </p:spPr>
        <p:txBody>
          <a:bodyPr wrap="square">
            <a:spAutoFit/>
          </a:bodyPr>
          <a:lstStyle/>
          <a:p>
            <a:pPr>
              <a:defRPr sz="2100" b="1">
                <a:solidFill>
                  <a:srgbClr val="15304B"/>
                </a:solidFill>
                <a:latin typeface="Aptos"/>
              </a:defRPr>
            </a:pPr>
            <a:r>
              <a:t>Manual · Thùy</a:t>
            </a:r>
          </a:p>
        </p:txBody>
      </p:sp>
      <p:sp>
        <p:nvSpPr>
          <p:cNvPr id="13" name="TextBox 12"/>
          <p:cNvSpPr txBox="1"/>
          <p:nvPr/>
        </p:nvSpPr>
        <p:spPr>
          <a:xfrm>
            <a:off x="4626864" y="2862072"/>
            <a:ext cx="2587752" cy="1600200"/>
          </a:xfrm>
          <a:prstGeom prst="rect">
            <a:avLst/>
          </a:prstGeom>
          <a:noFill/>
        </p:spPr>
        <p:txBody>
          <a:bodyPr wrap="square">
            <a:spAutoFit/>
          </a:bodyPr>
          <a:lstStyle/>
          <a:p>
            <a:pPr>
              <a:defRPr sz="1700" b="0">
                <a:solidFill>
                  <a:srgbClr val="283D4C"/>
                </a:solidFill>
                <a:latin typeface="Aptos"/>
              </a:defRPr>
            </a:pPr>
            <a:r>
              <a:t>101 = 25.000</a:t>
            </a:r>
            <a:br/>
            <a:r>
              <a:t>102 = 25.000</a:t>
            </a:r>
            <a:br/>
            <a:r>
              <a:t>103 = 28.000</a:t>
            </a:r>
            <a:br/>
            <a:r>
              <a:t>104 = 45.000</a:t>
            </a:r>
            <a:br/>
            <a:r>
              <a:t>105 = chưa có</a:t>
            </a:r>
          </a:p>
        </p:txBody>
      </p:sp>
      <p:sp>
        <p:nvSpPr>
          <p:cNvPr id="14" name="TextBox 13"/>
          <p:cNvSpPr txBox="1"/>
          <p:nvPr/>
        </p:nvSpPr>
        <p:spPr>
          <a:xfrm>
            <a:off x="8174736" y="2139696"/>
            <a:ext cx="2743200" cy="393192"/>
          </a:xfrm>
          <a:prstGeom prst="rect">
            <a:avLst/>
          </a:prstGeom>
          <a:noFill/>
        </p:spPr>
        <p:txBody>
          <a:bodyPr wrap="square">
            <a:spAutoFit/>
          </a:bodyPr>
          <a:lstStyle/>
          <a:p>
            <a:pPr>
              <a:defRPr sz="2100" b="1">
                <a:solidFill>
                  <a:srgbClr val="1F6B77"/>
                </a:solidFill>
                <a:latin typeface="Aptos"/>
              </a:defRPr>
            </a:pPr>
            <a:r>
              <a:t>Native · Trung</a:t>
            </a:r>
          </a:p>
        </p:txBody>
      </p:sp>
      <p:sp>
        <p:nvSpPr>
          <p:cNvPr id="15" name="TextBox 14"/>
          <p:cNvSpPr txBox="1"/>
          <p:nvPr/>
        </p:nvSpPr>
        <p:spPr>
          <a:xfrm>
            <a:off x="8257031" y="2862072"/>
            <a:ext cx="2587752" cy="1600200"/>
          </a:xfrm>
          <a:prstGeom prst="rect">
            <a:avLst/>
          </a:prstGeom>
          <a:noFill/>
        </p:spPr>
        <p:txBody>
          <a:bodyPr wrap="square">
            <a:spAutoFit/>
          </a:bodyPr>
          <a:lstStyle/>
          <a:p>
            <a:pPr>
              <a:defRPr sz="1700" b="0">
                <a:solidFill>
                  <a:srgbClr val="283D4C"/>
                </a:solidFill>
                <a:latin typeface="Aptos"/>
              </a:defRPr>
            </a:pPr>
            <a:r>
              <a:t>101 = 25.000</a:t>
            </a:r>
            <a:br/>
            <a:r>
              <a:t>102 = 25.000</a:t>
            </a:r>
            <a:br/>
            <a:r>
              <a:t>103 = 28.000</a:t>
            </a:r>
            <a:br/>
            <a:r>
              <a:t>104 = 45.000</a:t>
            </a:r>
            <a:br/>
            <a:r>
              <a:t>105 = chưa có</a:t>
            </a:r>
          </a:p>
        </p:txBody>
      </p:sp>
      <p:sp>
        <p:nvSpPr>
          <p:cNvPr id="16" name="TextBox 15"/>
          <p:cNvSpPr txBox="1"/>
          <p:nvPr/>
        </p:nvSpPr>
        <p:spPr>
          <a:xfrm>
            <a:off x="1069848" y="5577840"/>
            <a:ext cx="10149840" cy="438912"/>
          </a:xfrm>
          <a:prstGeom prst="rect">
            <a:avLst/>
          </a:prstGeom>
          <a:noFill/>
        </p:spPr>
        <p:txBody>
          <a:bodyPr wrap="square">
            <a:spAutoFit/>
          </a:bodyPr>
          <a:lstStyle/>
          <a:p>
            <a:pPr algn="ctr">
              <a:defRPr sz="1700" b="1">
                <a:solidFill>
                  <a:srgbClr val="15304B"/>
                </a:solidFill>
                <a:latin typeface="Aptos"/>
              </a:defRPr>
            </a:pPr>
            <a:r>
              <a:t>G1: hai bảng giá thường có cùng baseline. G2: Thùy/Trung kích hoạt hai cơ chế.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